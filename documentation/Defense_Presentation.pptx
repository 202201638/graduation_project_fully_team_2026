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687" y="457200"/>
            <a:ext cx="2560320" cy="1519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4884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Calibri"/>
              </a:rPr>
              <a:t>Zewail City of Science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7259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3B63"/>
                </a:solidFill>
                <a:latin typeface="Calibri"/>
              </a:rPr>
              <a:t>Chest X-ray Pneumonia Detection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Graduation Project Defense  -  School of CSAI  -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36015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66666"/>
                </a:solidFill>
                <a:latin typeface="Calibri"/>
              </a:rPr>
              <a:t>Submitted by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Moamen Elsayed Elsharkawy (202202015)      Habiba Ayman Amin (202202088)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Ahmed Gamal Abdelfattah (202201638)      Sara Mostafa Ali (202201305)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3B63"/>
                </a:solidFill>
                <a:latin typeface="Calibri"/>
              </a:rPr>
              <a:t>Supervisor: Prof. Dr. Khaled Mostafa      |      Team Number: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164592"/>
            <a:ext cx="1202010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Chest X-ray Pneumonia Detection System  |  Team 19  |  CSAI, Zewail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Pneumonia is a leading cause of illness and death worldwide; the chest X-ray is the first-line tool to detect it.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Radiograph volume far exceeds the number of radiologists available to read them.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Manual reading is slow, depends on scarce expertise, and is vulnerable to fatigue and missed cases.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A missed pneumonia (false negative) is the most dangerous error.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Need: a fast, accessible screening aid that flags and localizes pneumonia while keeping the doctor in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Motivation and Objectives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164592"/>
            <a:ext cx="1202010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Chest X-ray Pneumonia Detection System  |  Team 19  |  CSAI, Zewail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A9D8F"/>
                </a:solidFill>
                <a:latin typeface="Calibri"/>
              </a:rP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Shorten time-to-diagnosis and reduce missed cases with an AI second reader.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Take research-grade models all the way to a usable, secure clinical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A9D8F"/>
                </a:solidFill>
                <a:latin typeface="Calibri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Train and rigorously evaluate models for pneumonia detection and localization.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Deliver a secure, multi-user web app with patient management and history.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Provide visual explainability with every prediction.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Keep the work reproducible, documented, and maintainable.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Literature and Existing Solutions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164592"/>
            <a:ext cx="1202010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Chest X-ray Pneumonia Detection System  |  Team 19  |  CSAI, Zewail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CNNs (CheXNet/DenseNet) reach near radiologist-level pneumonia classification on chest X-rays.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Detection adds localization: two-stage Faster R-CNN (accurate) vs one-stage YOLO (fast).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RSNA Pneumonia Detection Challenge is the standard benchmark (~26,684 labeled radiographs).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Commercial tools (Lunit, Aidoc, qure.ai) exist but are closed and expensive; academic prototypes rarely ship.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B63"/>
                </a:solidFill>
                <a:latin typeface="Calibri"/>
              </a:rPr>
              <a:t>Our gap: a transparent, explainable, end-to-end, self-hostable screening tool, evaluated honestly and leak-free.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164592"/>
            <a:ext cx="1202010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Chest X-ray Pneumonia Detection System  |  Team 19  |  CSAI, Zewail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A doctor-facing web app: sign in, manage patients, upload an X-ray, get a reading.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Returns: pneumonia decision, bounding box, confidence, and an explainability heatmap.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Five models behind one registry; Faster R-CNN is the deployed default.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Every analysis is stored per patient for later review.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The physician confirms every result (decision support, not autonomous).</a:t>
            </a:r>
          </a:p>
        </p:txBody>
      </p:sp>
      <p:pic>
        <p:nvPicPr>
          <p:cNvPr id="8" name="Picture 7" descr="demo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371600"/>
            <a:ext cx="420624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557784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Sample detector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164592"/>
            <a:ext cx="1202010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Chest X-ray Pneumonia Detection System  |  Team 19  |  CSAI, Zewail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6 / 15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807" y="1280160"/>
            <a:ext cx="856190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Methodology - AI Pipeline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164592"/>
            <a:ext cx="1202010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Chest X-ray Pneumonia Detection System  |  Team 19  |  CSAI, Zewail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7 / 15</a:t>
            </a:r>
          </a:p>
        </p:txBody>
      </p:sp>
      <p:pic>
        <p:nvPicPr>
          <p:cNvPr id="7" name="Picture 6" descr="ai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076" y="1371600"/>
            <a:ext cx="9299367" cy="2377440"/>
          </a:xfrm>
          <a:prstGeom prst="rect">
            <a:avLst/>
          </a:prstGeom>
        </p:spPr>
      </p:pic>
      <p:pic>
        <p:nvPicPr>
          <p:cNvPr id="8" name="Picture 7" descr="data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488" y="3840480"/>
            <a:ext cx="8788543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Main Features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164592"/>
            <a:ext cx="1202010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Chest X-ray Pneumonia Detection System  |  Team 19  |  CSAI, Zewail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 Secure doctor accounts (JWT + bcrypt), per-user data isolation.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 Patient record management and persistent analysis history.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 X-ray upload with drag-and-drop and live preview.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 Automated decision + bounding-box localization + confidence score.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 Explainability heatmaps (Grad-CAM and related) on every prediction.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 Multiple models behind one registry; auto-generated Swagger API docs.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Technical Implementation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164592"/>
            <a:ext cx="1202010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Chest X-ray Pneumonia Detection System  |  Team 19  |  CSAI, Zewail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Frontend: Angular 21 with server-side rendering, route guards, central state + API service.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Backend: FastAPI (fully async), lifespan startup that connects Mongo and warms the model.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Inference service: model registry + single-load warmup + NMS + six explainability methods.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Database: MongoDB (Motor) with users / patients / xray_analyses and indexes.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Security: JWT, bcrypt, CORS, strict input validation, production secret-key guard.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Models served from disk via Git LFS; inference runs on CPU or GPU.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Testing and Evaluation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164592"/>
            <a:ext cx="1202010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Chest X-ray Pneumonia Detection System  |  Team 19  |  CSAI, Zewail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Backend unit + integration tests (pytest), including per-user access-control tests.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Preflight asset checker and an end-to-end inference smoke test.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Metrics: AUC, precision, recall (sensitivity), specificity, F1, confusion matrix; mAP for detection.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881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A9D8F"/>
                </a:solidFill>
                <a:latin typeface="Calibri"/>
              </a:rPr>
              <a:t>Experimental setup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RSNA dataset, DICOM-&gt;PNG, patient-wise split (20% held-out test: 4,135 normal / 1,202 pneumonia).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Kaggle GPU (P100/T4), mixed-precision training, augmentation, early stopping.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Results (held-out test set)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164592"/>
            <a:ext cx="1202010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Chest X-ray Pneumonia Detection System  |  Team 19  |  CSAI, Zewail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11 / 15</a:t>
            </a:r>
          </a:p>
        </p:txBody>
      </p:sp>
      <p:pic>
        <p:nvPicPr>
          <p:cNvPr id="7" name="Picture 6" descr="classification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46" y="1280160"/>
            <a:ext cx="5824387" cy="3291840"/>
          </a:xfrm>
          <a:prstGeom prst="rect">
            <a:avLst/>
          </a:prstGeom>
        </p:spPr>
      </p:pic>
      <p:pic>
        <p:nvPicPr>
          <p:cNvPr id="8" name="Picture 7" descr="detection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325" y="1280160"/>
            <a:ext cx="523959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75488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B63"/>
                </a:solidFill>
                <a:latin typeface="Calibri"/>
              </a:rPr>
              <a:t>Best classifier EfficientNet-B0: AUC 0.886.  Deployed detector Faster R-CNN: recall 0.812 (mAP@0.5 0.381).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Recall is prioritized because a missed pneumonia is the costly error. Numbers are honest and leak-free.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Challenges and Lessons Learned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164592"/>
            <a:ext cx="1202010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Chest X-ray Pneumonia Detection System  |  Team 19  |  CSAI, Zewail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Found and fixed a patient-level data leak that had inflated early scores (patient-wise splitting).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Served several large models efficiently with a single-load registry and warmup.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Made detector predictions explainable (Eigen-CAM, occlusion) where standard saliency does not apply.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Lesson: lightweight PSO/GWO/SA proxy search did not beat a tuned baseline (a real, useful finding).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Lesson: honest evaluation and the clinically meaningful metric matter more than a headline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164592"/>
            <a:ext cx="1202010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Chest X-ray Pneumonia Detection System  |  Team 19  |  CSAI, Zewail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Delivered a complete, working, explainable full-stack pneumonia screening system.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Five models rigorously and honestly evaluated; AUC 0.886 (classification), recall 0.812 (deployed detector).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Secure, multi-user, reproducible, and competitive with the published literature.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Demonstrates the full path from research model to usable clinical product.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164592"/>
            <a:ext cx="1202010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Chest X-ray Pneumonia Detection System  |  Team 19  |  CSAI, Zewail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Containerize with Docker Compose and add a CI/CD pipeline for one-command deployment.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Add structured logging, metrics, monitoring, and model-drift detection in production.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Out-of-distribution detection to reject non-chest or low-quality images.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Extend to multi-finding detection; validate on additional, more diverse datasets.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Pursue clinical validation and the regulatory path toward a certified tool.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567" y="1097280"/>
            <a:ext cx="2194560" cy="13021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2608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BFD7EA"/>
                </a:solidFill>
                <a:latin typeface="Calibri"/>
              </a:rPr>
              <a:t>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Chest X-ray Pneumonia Detection System  -  Team 19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BFD7EA"/>
                </a:solidFill>
                <a:latin typeface="Calibri"/>
              </a:rPr>
              <a:t>School of CSAI, Zewail City of Science and Technology  -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